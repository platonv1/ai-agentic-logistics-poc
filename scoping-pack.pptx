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F46E5"/>
                </a:solidFill>
                <a:latin typeface="Calibri"/>
              </a:rPr>
              <a:t>CASE STUDY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AI-First Agentic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7CCE8"/>
                </a:solidFill>
                <a:latin typeface="Calibri"/>
              </a:rPr>
              <a:t>Last-mile delivery, reimagined around autonomous agents — not dashboards with a chatbot bolted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3D4"/>
                </a:solidFill>
                <a:latin typeface="Calibri"/>
              </a:rPr>
              <a:t>Product Roadmap, Agentic Functions &amp; Prototype Scoping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3D4"/>
                </a:solidFill>
                <a:latin typeface="Calibri"/>
              </a:rPr>
              <a:t>github.com/platonv1/ai-agentic-logistics-poc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Last-mile is where logistics plans meet reality — and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111827"/>
                </a:solidFill>
                <a:latin typeface="Calibri"/>
              </a:rPr>
              <a:t>Exceptions are handled reactively.</a:t>
            </a:r>
            <a:r>
              <a:rPr b="0" sz="1600">
                <a:solidFill>
                  <a:srgbClr val="475569"/>
                </a:solidFill>
                <a:latin typeface="Calibri"/>
              </a:rPr>
              <a:t>  Failed attempts, bad addresses, delays and no-shows sit in a queue until a human looks at them.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11827"/>
                </a:solidFill>
                <a:latin typeface="Calibri"/>
              </a:rPr>
              <a:t>Dispatch re-optimization is manual.</a:t>
            </a:r>
            <a:r>
              <a:rPr b="0" sz="1600">
                <a:solidFill>
                  <a:srgbClr val="475569"/>
                </a:solidFill>
                <a:latin typeface="Calibri"/>
              </a:rPr>
              <a:t>  New orders, cancellations and delays should reshuffle routes continuously — today that's a person re-checking a board.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11827"/>
                </a:solidFill>
                <a:latin typeface="Calibri"/>
              </a:rPr>
              <a:t>Support volume is dominated by “where's my order?”</a:t>
            </a:r>
            <a:r>
              <a:rPr b="0" sz="1600">
                <a:solidFill>
                  <a:srgbClr val="475569"/>
                </a:solidFill>
                <a:latin typeface="Calibri"/>
              </a:rPr>
              <a:t>  Most inbound contact is answerable from data the system already has.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212080" cy="411480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057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468880"/>
            <a:ext cx="4480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11827"/>
                </a:solidFill>
                <a:latin typeface="Calibri"/>
              </a:rPr>
              <a:t>Put an agent in front of each of these three reactive decisions — exception handling, dispatch, customer comms — so they get resolved in seconds, autonomously, with a human only pulled in when the agent itself isn't confident enough to act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An operations team of agents, with humans on the 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11827"/>
                </a:solidFill>
                <a:latin typeface="Calibri"/>
              </a:rPr>
              <a:t>Every routine dispatch decision is made by an agent, in real time, with a visible reasoning trace — and every low-confidence call surfaces to a human instead of silently guessing.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3566160" cy="246888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356616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11827"/>
                </a:solidFill>
                <a:latin typeface="Calibri"/>
              </a:rPr>
              <a:t>Autonomous by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Agents act directly on live order/fleet state — no approval queue for the routine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3200400"/>
            <a:ext cx="3566160" cy="246888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200400"/>
            <a:ext cx="356616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4747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11827"/>
                </a:solidFill>
                <a:latin typeface="Calibri"/>
              </a:rPr>
              <a:t>Confidence-gated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11480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Every agent reports a confidence score; below threshold, it proposes instead of acting.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200400"/>
            <a:ext cx="3566160" cy="246888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3200400"/>
            <a:ext cx="356616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4747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11827"/>
                </a:solidFill>
                <a:latin typeface="Calibri"/>
              </a:rPr>
              <a:t>Reasoning is a first-class 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Dispatchers and the roadmap both depend on seeing *why*, not just *what*.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Three people this changes the day-to-day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Calibri"/>
              </a:rPr>
              <a:t>Dana — Dispatcher / Ops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6675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Needs to trust agent decisions at a glance, spot escalations fast, and never lose visibility into the fleet.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3657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F46E5"/>
                </a:solidFill>
                <a:latin typeface="Calibri"/>
              </a:rPr>
              <a:t>USES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F46E5"/>
                </a:solidFill>
                <a:latin typeface="Calibri"/>
              </a:rPr>
              <a:t>Dashboard: shipment board + live agent activity 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11064240" cy="137160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Calibri"/>
              </a:rPr>
              <a:t>Chris — Customer / Recipient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50208"/>
            <a:ext cx="6675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Wants a straight answer about their delivery without waiting on 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520440"/>
            <a:ext cx="3657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F46E5"/>
                </a:solidFill>
                <a:latin typeface="Calibri"/>
              </a:rPr>
              <a:t>USES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F46E5"/>
                </a:solidFill>
                <a:latin typeface="Calibri"/>
              </a:rPr>
              <a:t>Tracking page + always-on support 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Calibri"/>
              </a:rPr>
              <a:t>Priya — Support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04688"/>
            <a:ext cx="6675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Wants inbound “where is it” volume to drop and an audit trail when something needs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074920"/>
            <a:ext cx="3657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F46E5"/>
                </a:solidFill>
                <a:latin typeface="Calibri"/>
              </a:rPr>
              <a:t>USES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F46E5"/>
                </a:solidFill>
                <a:latin typeface="Calibri"/>
              </a:rPr>
              <a:t>Escalation queue + reasoning traces (Next milestone)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AGENTIC FUNCTION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Exception Resolution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Watches for delivery exceptions and autonomously decides the next best action — or escalates.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Triggers on: failed attempt, address issue, traffic/weather delay, recipient no-show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Chooses one of: reschedule, reroute, notify customer, reassign driver</a:t>
            </a:r>
          </a:p>
          <a:p>
            <a:pPr>
              <a:spcAft>
                <a:spcPts val="1000"/>
              </a:spcAft>
            </a:pPr>
            <a:r>
              <a:rPr b="1" sz="1450">
                <a:solidFill>
                  <a:srgbClr val="111827"/>
                </a:solidFill>
                <a:latin typeface="Calibri"/>
              </a:rPr>
              <a:t>Confidence threshold: 0.7</a:t>
            </a:r>
            <a:r>
              <a:rPr b="0" sz="1450">
                <a:solidFill>
                  <a:srgbClr val="475569"/>
                </a:solidFill>
                <a:latin typeface="Calibri"/>
              </a:rPr>
              <a:t>  below it, the action is proposed but not applied — order is flagged “needs review” instead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057400"/>
            <a:ext cx="5257800" cy="39319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2402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CA3D4"/>
                </a:solidFill>
                <a:latin typeface="Calibri"/>
              </a:rPr>
              <a:t>LIVE REASONING TRACE (mock provider)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7860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Exception: address_issue on ord-1004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71800"/>
            <a:ext cx="4709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D6D9F2"/>
                </a:solidFill>
                <a:latin typeface="Calibri"/>
              </a:rPr>
              <a:t>“The address on ord-1004 doesn't match known geocoding data closely enough to guess confidently — sending the driver to the wrong location risks a second failed attempt. Recommending a customer confirmation before proceeding.”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074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Action: notify_customer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440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C2626"/>
                </a:solidFill>
                <a:latin typeface="Calibri"/>
              </a:rPr>
              <a:t>Confidence 0.50  →  escalated to 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AGENTIC FUNCTION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Dynamic Dispatch &amp; Route Optimization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Re-optimizes driver assignments continuously as new orders, cancellations or delays land.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Triggers on: new order arrival (also re-run after any exception resolution)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Balances: SLA / priority, driver load, and cost — not just proximity</a:t>
            </a:r>
          </a:p>
          <a:p>
            <a:pPr>
              <a:spcAft>
                <a:spcPts val="1000"/>
              </a:spcAft>
            </a:pPr>
            <a:r>
              <a:rPr b="1" sz="1450">
                <a:solidFill>
                  <a:srgbClr val="111827"/>
                </a:solidFill>
                <a:latin typeface="Calibri"/>
              </a:rPr>
              <a:t>Chooses one of: assign_driver, queue</a:t>
            </a:r>
            <a:r>
              <a:rPr b="0" sz="1450">
                <a:solidFill>
                  <a:srgbClr val="475569"/>
                </a:solidFill>
                <a:latin typeface="Calibri"/>
              </a:rPr>
              <a:t>  queues rather than overloading a driver past capacity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057400"/>
            <a:ext cx="5257800" cy="39319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2402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CA3D4"/>
                </a:solidFill>
                <a:latin typeface="Calibri"/>
              </a:rPr>
              <a:t>LIVE REASONING TRACE (mock provider)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7860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New order ord-1007 (134 Lakeshore Dr)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71800"/>
            <a:ext cx="4709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D6D9F2"/>
                </a:solidFill>
                <a:latin typeface="Calibri"/>
              </a:rPr>
              <a:t>“Diego Alvarez has the lowest current load (1/5) among drivers who can take another stop, and is close enough to reach 134 Lakeshore Dr without breaking other drivers' routes.”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074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Action: assign_driver → Diego Alvarez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440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803D"/>
                </a:solidFill>
                <a:latin typeface="Calibri"/>
              </a:rPr>
              <a:t>Confidence 0.88  →  applied autonomously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AGENTIC FUNCTION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Proactive Customer Communication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Monitors shipment state and answers customer questions using live order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Drafts/sends ETA updates and delay notices proactively on exceptions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Answers free-form chat questions grounded in the current order record</a:t>
            </a:r>
          </a:p>
          <a:p>
            <a:pPr>
              <a:spcAft>
                <a:spcPts val="1000"/>
              </a:spcAft>
            </a:pPr>
            <a:r>
              <a:rPr b="1" sz="1450">
                <a:solidFill>
                  <a:srgbClr val="111827"/>
                </a:solidFill>
                <a:latin typeface="Calibri"/>
              </a:rPr>
              <a:t>Never invents details</a:t>
            </a:r>
            <a:r>
              <a:rPr b="0" sz="1450">
                <a:solidFill>
                  <a:srgbClr val="475569"/>
                </a:solidFill>
                <a:latin typeface="Calibri"/>
              </a:rPr>
              <a:t>  prompted explicitly to answer only from the order data it's given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057400"/>
            <a:ext cx="5257800" cy="39319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2402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CA3D4"/>
                </a:solidFill>
                <a:latin typeface="Calibri"/>
              </a:rPr>
              <a:t>LIVE REASONING TRACE (mock provider)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7860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Customer asks: “Is my address issue resolved?” (ord-1004, open exception)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71800"/>
            <a:ext cx="4709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D6D9F2"/>
                </a:solidFill>
                <a:latin typeface="Calibri"/>
              </a:rPr>
              <a:t>“Order has an open exception (address_issue); leading with that context so the customer isn't caught off guard.”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D6D9F2"/>
                </a:solidFill>
                <a:latin typeface="Calibri"/>
              </a:rPr>
              <a:t>Reply sent: “We're currently working through an issue with your delivery — a team member is reviewing it and will follow up shortly.”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074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Action: respond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440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803D"/>
                </a:solidFill>
                <a:latin typeface="Calibri"/>
              </a:rPr>
              <a:t>Confidence 0.80  →  applied autonomously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Three routes, one contract, one in-memory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291840" cy="1005840"/>
          </a:xfrm>
          <a:prstGeom prst="rect">
            <a:avLst/>
          </a:prstGeom>
          <a:solidFill>
            <a:srgbClr val="E9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11827"/>
                </a:solidFill>
                <a:latin typeface="Calibri"/>
              </a:rPr>
              <a:t>Dispatch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Calibri"/>
              </a:rPr>
              <a:t>app/dispatch — board + “simulate exception” + live agent 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828800"/>
            <a:ext cx="3291840" cy="1005840"/>
          </a:xfrm>
          <a:prstGeom prst="rect">
            <a:avLst/>
          </a:prstGeom>
          <a:solidFill>
            <a:srgbClr val="E9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385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11827"/>
                </a:solidFill>
                <a:latin typeface="Calibri"/>
              </a:rPr>
              <a:t>Customer Tracking +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428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Calibri"/>
              </a:rPr>
              <a:t>app/track/[orderId] — order status + support chat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23317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55848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11827"/>
                </a:solidFill>
                <a:latin typeface="Calibri"/>
              </a:rPr>
              <a:t>Exception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21608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Calibri"/>
              </a:rPr>
              <a:t>app/api/agents/exceptions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3246120"/>
            <a:ext cx="23317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355848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11827"/>
                </a:solidFill>
                <a:latin typeface="Calibri"/>
              </a:rPr>
              <a:t>Dispatch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21608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Calibri"/>
              </a:rPr>
              <a:t>app/api/agents/dispatch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3246120"/>
            <a:ext cx="23317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355848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11827"/>
                </a:solidFill>
                <a:latin typeface="Calibri"/>
              </a:rPr>
              <a:t>Communication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721608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Calibri"/>
              </a:rPr>
              <a:t>app/api/agents/chat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3931920" cy="10972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lib/llm.ts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3892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Calibri"/>
              </a:rPr>
              <a:t>Provider-agnostic client — gemini | ollama | mock (LLM_PROVIDER). Falls back to mock on provider error.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6E6FB"/>
                </a:solidFill>
                <a:latin typeface="Calibri"/>
              </a:rPr>
              <a:t>Provider-agnostic client — gemini | ollama | mock (LLM_PROVIDER). Falls back to mock on provider error.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663440"/>
            <a:ext cx="3931920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477316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lib/data.ts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13892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Calibri"/>
              </a:rPr>
              <a:t>In-memory store (globalThis singleton) — drivers, orders, event log,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12064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7CCE8"/>
                </a:solidFill>
                <a:latin typeface="Calibri"/>
              </a:rPr>
              <a:t>In-memory store (globalThis singleton) — drivers, orders, event log, chat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63040" y="2834640"/>
            <a:ext cx="0" cy="41148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94560" y="2834640"/>
            <a:ext cx="1371600" cy="41148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0" y="2834640"/>
            <a:ext cx="914400" cy="41148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206240" y="2834640"/>
            <a:ext cx="1737360" cy="41148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63040" y="4206240"/>
            <a:ext cx="822960" cy="45720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560320" y="4206240"/>
            <a:ext cx="1645920" cy="45720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06240" y="4206240"/>
            <a:ext cx="2011680" cy="45720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583680" y="4206240"/>
            <a:ext cx="182880" cy="45720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418320" y="1828800"/>
            <a:ext cx="2194560" cy="3931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193852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92400E"/>
                </a:solidFill>
                <a:latin typeface="Calibri"/>
              </a:rPr>
              <a:t>No 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2304288"/>
            <a:ext cx="1920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Calibri"/>
              </a:rPr>
              <a:t>In-memory only, by design — zero infra for a reviewer to stand up.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Calibri"/>
              </a:rPr>
              <a:t>Local-only demo: run with npm run dev / npm start. Not deployed serverless — per-invocation runtimes wouldn't share this store.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Now → Next → Later → Later+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206240"/>
          </a:xfrm>
          <a:prstGeom prst="rect">
            <a:avLst/>
          </a:prstGeom>
          <a:solidFill>
            <a:srgbClr val="E9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74320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F46E5"/>
                </a:solidFill>
                <a:latin typeface="Calibri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75569"/>
                </a:solidFill>
                <a:latin typeface="Calibri"/>
              </a:rPr>
              <a:t>This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Simulated fleet/orders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Dispatcher dashboard, 3 live agents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Customer chat 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8144" y="1828800"/>
            <a:ext cx="2743200" cy="420624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8144" y="1828800"/>
            <a:ext cx="2743200" cy="73152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Calibr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75569"/>
                </a:solidFill>
                <a:latin typeface="Calibri"/>
              </a:rPr>
              <a:t>0–3 months (MVP)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88036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Real order/webhook ingestion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Persistent store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Human-in-the-loop approval queue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Agent accuracy / override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1828800"/>
            <a:ext cx="2743200" cy="420624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828800"/>
            <a:ext cx="2743200" cy="73152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Calibri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75569"/>
                </a:solidFill>
                <a:latin typeface="Calibri"/>
              </a:rPr>
              <a:t>3–6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88036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Confidence-tiered autonomy + guardrails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Multi-agent orchestration (planner + specialists)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TMS/WMS integrations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SLA-based escalation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1828800"/>
            <a:ext cx="2743200" cy="420624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17152" y="1828800"/>
            <a:ext cx="2743200" cy="73152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Calibri"/>
              </a:rPr>
              <a:t>LATER+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75569"/>
                </a:solidFill>
                <a:latin typeface="Calibri"/>
              </a:rPr>
              <a:t>6–12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88036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Predictive agents (weather/traffic signals)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Fleet-wide optimization agent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Feedback-driven self-improvement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Pluggable LLM-provider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POC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What's in this build, and how the demo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Seeded fleet: 4 drivers, 5 seed orders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All 3 agents live, mock provider by default (zero setup)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Real Gemini/Ollama calls via one env var, no code changes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Dispatch dashboard + agent activity log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•  Customer tracking + support chat, grounded in live order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DEMO WALKTHROUGH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94560"/>
            <a:ext cx="365760" cy="3657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76272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11827"/>
                </a:solidFill>
                <a:latin typeface="Calibri"/>
              </a:rPr>
              <a:t>Open /dispatch — review the seeded shipment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154680"/>
            <a:ext cx="365760" cy="3657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15468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136392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11827"/>
                </a:solidFill>
                <a:latin typeface="Calibri"/>
              </a:rPr>
              <a:t>Click “Simulate exception” — watch the Exception Agent reason live, and either auto-resolve or escalate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114800"/>
            <a:ext cx="365760" cy="3657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114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096512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11827"/>
                </a:solidFill>
                <a:latin typeface="Calibri"/>
              </a:rPr>
              <a:t>Click “Add new order &amp; dispatch” — watch the Dispatch Agent assign the least-loaded driver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074920"/>
            <a:ext cx="365760" cy="3657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50749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056632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11827"/>
                </a:solidFill>
                <a:latin typeface="Calibri"/>
              </a:rPr>
              <a:t>Open a /track/[orderId] page — ask the chat about ETA, driver, or an open 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TECH STACK &amp; LLM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Deliberately small surface area for a 3-agent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11827"/>
                </a:solidFill>
                <a:latin typeface="Calibri"/>
              </a:rPr>
              <a:t>Next.js (App Router) + TypeScript + Tailwind.</a:t>
            </a:r>
            <a:r>
              <a:rPr b="0" sz="1500">
                <a:solidFill>
                  <a:srgbClr val="475569"/>
                </a:solidFill>
                <a:latin typeface="Calibri"/>
              </a:rPr>
              <a:t>  Signals real engineering, not a static mockup — same framework a production build would extend.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11827"/>
                </a:solidFill>
                <a:latin typeface="Calibri"/>
              </a:rPr>
              <a:t>No agent framework.</a:t>
            </a:r>
            <a:r>
              <a:rPr b="0" sz="1500">
                <a:solidFill>
                  <a:srgbClr val="475569"/>
                </a:solidFill>
                <a:latin typeface="Calibri"/>
              </a:rPr>
              <a:t>  3 agents × one structured LLM call each doesn't need LangChain-style orchestration.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11827"/>
                </a:solidFill>
                <a:latin typeface="Calibri"/>
              </a:rPr>
              <a:t>No database.</a:t>
            </a:r>
            <a:r>
              <a:rPr b="0" sz="1500">
                <a:solidFill>
                  <a:srgbClr val="475569"/>
                </a:solidFill>
                <a:latin typeface="Calibri"/>
              </a:rPr>
              <a:t>  In-memory store is enough for a POC and keeps setup at npm install &amp;&amp; npm run dev.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11827"/>
                </a:solidFill>
                <a:latin typeface="Calibri"/>
              </a:rPr>
              <a:t>Provider-agnostic LLM client.</a:t>
            </a:r>
            <a:r>
              <a:rPr b="0" sz="1500">
                <a:solidFill>
                  <a:srgbClr val="475569"/>
                </a:solidFill>
                <a:latin typeface="Calibri"/>
              </a:rPr>
              <a:t>  LLM_PROVIDER=gemini|ollama|mock — swap providers with zero code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212080" cy="411480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2057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WHY THE MOCK FALLBACK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46888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11827"/>
                </a:solidFill>
                <a:latin typeface="Calibri"/>
              </a:rPr>
              <a:t>Mock isn't hidden or apologized for — it's the honest zero-setup path so any reviewer can click through the full agentic loop with no API key and no local model.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11827"/>
                </a:solidFill>
                <a:latin typeface="Calibri"/>
              </a:rPr>
              <a:t>It's scenario-aware, not a static string: each route computes its mock reasoning from the real current state (which exception type, which driver has capacity, what the customer actually asked).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11827"/>
                </a:solidFill>
                <a:latin typeface="Calibri"/>
              </a:rPr>
              <a:t>If a real provider call fails at runtime (missing key, unreachable local server, malformed JSON back), the client logs the error and falls back to the same mock — so a flaky Ollama server degrades gracefully instead of breaking the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What we'd track once this leaves POC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486400" cy="128016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11827"/>
                </a:solidFill>
                <a:latin typeface="Calibri"/>
              </a:rPr>
              <a:t>Exception auto-resolution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% of exceptions resolved autonomously vs. escalated to a human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828800"/>
            <a:ext cx="5486400" cy="128016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11827"/>
                </a:solidFill>
                <a:latin typeface="Calibri"/>
              </a:rPr>
              <a:t>Agent override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% of autonomous or approved actions a dispatcher later reverses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5486400" cy="128016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11827"/>
                </a:solidFill>
                <a:latin typeface="Calibri"/>
              </a:rPr>
              <a:t>Time-to-resolution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Median time from exception detected → resolved (agent or human)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291840"/>
            <a:ext cx="5486400" cy="128016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429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11827"/>
                </a:solidFill>
                <a:latin typeface="Calibri"/>
              </a:rPr>
              <a:t>Inbound contact deflection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Drop in “where is my order” support volume after the chat agent 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86400" cy="128016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11827"/>
                </a:solidFill>
                <a:latin typeface="Calibri"/>
              </a:rPr>
              <a:t>On-time delivery / SLA adherence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Impact of continuous re-dispatch on missed-window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754880"/>
            <a:ext cx="5486400" cy="1280160"/>
          </a:xfrm>
          <a:prstGeom prst="rect">
            <a:avLst/>
          </a:prstGeom>
          <a:solidFill>
            <a:srgbClr val="F3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892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11827"/>
                </a:solidFill>
                <a:latin typeface="Calibri"/>
              </a:rPr>
              <a:t>Escalation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30352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Of escalated cases, % a human actually needed to intervene on (catches an over-cautious threshold)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What could go wrong, and the plan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450">
                <a:solidFill>
                  <a:srgbClr val="111827"/>
                </a:solidFill>
                <a:latin typeface="Calibri"/>
              </a:rPr>
              <a:t>In-memory store has no persistence</a:t>
            </a:r>
            <a:r>
              <a:rPr b="0" sz="1450">
                <a:solidFill>
                  <a:srgbClr val="475569"/>
                </a:solidFill>
                <a:latin typeface="Calibri"/>
              </a:rPr>
              <a:t>  Explicitly scoped as a local-only demo; real DB is the first Next-phase item before any shared deployment.</a:t>
            </a:r>
          </a:p>
          <a:p>
            <a:pPr>
              <a:spcAft>
                <a:spcPts val="1600"/>
              </a:spcAft>
            </a:pPr>
            <a:r>
              <a:rPr b="1" sz="1450">
                <a:solidFill>
                  <a:srgbClr val="111827"/>
                </a:solidFill>
                <a:latin typeface="Calibri"/>
              </a:rPr>
              <a:t>Model output is unreliable JSON / hallucinated actions</a:t>
            </a:r>
            <a:r>
              <a:rPr b="0" sz="1450">
                <a:solidFill>
                  <a:srgbClr val="475569"/>
                </a:solidFill>
                <a:latin typeface="Calibri"/>
              </a:rPr>
              <a:t>  Strict JSON-schema output (Gemini) + parse validation on every path; falls back to mock rather than crashing the request.</a:t>
            </a:r>
          </a:p>
          <a:p>
            <a:pPr>
              <a:spcAft>
                <a:spcPts val="1600"/>
              </a:spcAft>
            </a:pPr>
            <a:r>
              <a:rPr b="1" sz="1450">
                <a:solidFill>
                  <a:srgbClr val="111827"/>
                </a:solidFill>
                <a:latin typeface="Calibri"/>
              </a:rPr>
              <a:t>Confidence threshold miscalibrated (over- or under-escalates)</a:t>
            </a:r>
            <a:r>
              <a:rPr b="0" sz="1450">
                <a:solidFill>
                  <a:srgbClr val="475569"/>
                </a:solidFill>
                <a:latin typeface="Calibri"/>
              </a:rPr>
              <a:t>  Threshold is one named constant, not scattered logic; Next-phase override-rate analytics tell us which way to move it.</a:t>
            </a:r>
          </a:p>
          <a:p>
            <a:pPr>
              <a:spcAft>
                <a:spcPts val="1600"/>
              </a:spcAft>
            </a:pPr>
            <a:r>
              <a:rPr b="1" sz="1450">
                <a:solidFill>
                  <a:srgbClr val="111827"/>
                </a:solidFill>
                <a:latin typeface="Calibri"/>
              </a:rPr>
              <a:t>LLM cost/latency at production scale</a:t>
            </a:r>
            <a:r>
              <a:rPr b="0" sz="1450">
                <a:solidFill>
                  <a:srgbClr val="475569"/>
                </a:solidFill>
                <a:latin typeface="Calibri"/>
              </a:rPr>
              <a:t>  Small “flash” tier models by design; roadmap includes a pluggable provider marketplace to shop cost/latency over time.</a:t>
            </a:r>
          </a:p>
          <a:p>
            <a:pPr>
              <a:spcAft>
                <a:spcPts val="1600"/>
              </a:spcAft>
            </a:pPr>
            <a:r>
              <a:rPr b="1" sz="1450">
                <a:solidFill>
                  <a:srgbClr val="111827"/>
                </a:solidFill>
                <a:latin typeface="Calibri"/>
              </a:rPr>
              <a:t>Vendor lock-in to one LLM provider</a:t>
            </a:r>
            <a:r>
              <a:rPr b="0" sz="1450">
                <a:solidFill>
                  <a:srgbClr val="475569"/>
                </a:solidFill>
                <a:latin typeface="Calibri"/>
              </a:rPr>
              <a:t>  Provider-agnostic client from day one — already proven by swapping gemini/ollama/mock with zero code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AI-First Agentic Logistics — Case Study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FFFFFF"/>
                </a:solidFill>
                <a:latin typeface="Calibri"/>
              </a:rPr>
              <a:t>Approve the MVP scope</a:t>
            </a:r>
            <a:r>
              <a:rPr b="0" sz="1700">
                <a:solidFill>
                  <a:srgbClr val="C7CCE8"/>
                </a:solidFill>
                <a:latin typeface="Calibri"/>
              </a:rPr>
              <a:t>  the 0–3 month roadmap items — real ingestion, persistence, human-in-the-loop queue, analytics.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FFFFFF"/>
                </a:solidFill>
                <a:latin typeface="Calibri"/>
              </a:rPr>
              <a:t>Pick a production LLM provider + budget</a:t>
            </a:r>
            <a:r>
              <a:rPr b="0" sz="1700">
                <a:solidFill>
                  <a:srgbClr val="C7CCE8"/>
                </a:solidFill>
                <a:latin typeface="Calibri"/>
              </a:rPr>
              <a:t>  prototype already runs on Gemini or Ollama with zero code changes — need a decision, not a rebuild.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FFFFFF"/>
                </a:solidFill>
                <a:latin typeface="Calibri"/>
              </a:rPr>
              <a:t>Access to a real order/webhook feed</a:t>
            </a:r>
            <a:r>
              <a:rPr b="0" sz="1700">
                <a:solidFill>
                  <a:srgbClr val="C7CCE8"/>
                </a:solidFill>
                <a:latin typeface="Calibri"/>
              </a:rPr>
              <a:t>  to replace seeded mock data for the MVP milestone.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FFFFFF"/>
                </a:solidFill>
                <a:latin typeface="Calibri"/>
              </a:rPr>
              <a:t>Sign-off on the confidence-threshold approach</a:t>
            </a:r>
            <a:r>
              <a:rPr b="0" sz="1700">
                <a:solidFill>
                  <a:srgbClr val="C7CCE8"/>
                </a:solidFill>
                <a:latin typeface="Calibri"/>
              </a:rPr>
              <a:t>  before building the override-rate analytics that would tune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3D4"/>
                </a:solidFill>
                <a:latin typeface="Calibri"/>
              </a:rPr>
              <a:t>Repo: github.com/platonv1/ai-agentic-logistics-poc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